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约20秒：本页说明课题名称和定位，强调 Relax-Git 不是普通代码托管，而是围绕代码仓库构建导入、浏览、讨论、消息、AI 与管理观察的一体化本地演示系统。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约25秒：本页说明课题建设目标，按从左到右的链路呈现：导入仓库提供内容来源，快照让代码可浏览，评论和通知让讨论闭环，好友私信延伸交流，控制台提供运行观察。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约30秒：本页说明架构分工。Web 负责交互，API 负责业务接口，PostgreSQL 存数据，Redis/BullMQ 做队列和状态，Go Worker 处理耗时 Git 任务。强调耗时任务异步化是为了避免导入时阻塞接口。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约20秒：本页介绍演示账号。fpsmeimei 是管理员和仓库所有者，001 是 js-snake 的成员并与 fpsmeimei 是好友，002 是普通用户。后续页面会用这三个账号验证权限和社交关系。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约25秒：本页说明社区页是仓库进入平台互动链路的入口。这里同时展示公开仓库 2048 和内部仓库 js-snake，证明内部仓库不是私有不可见，而是公开可见但有评论权限边界。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约25秒：左侧是我的仓库，右侧是导入表单。本页流程：用户提交 Git 地址，系统校验地址、读取分支、创建仓库记录，再创建基础快照任务，由 Worker 后台处理。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约25秒：本页展示内部仓库和成员管理。js-snake 是内部仓库，所有者 fpsmeimei 可以进入成员页处理申请和成员列表。001 是成员，所以后面可以作为成员视角访问。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约35秒：本页展示系统核心代码浏览能力，包括左侧文件树，右侧 README 代码内容和行号，右上有查看评论入口。说明快照让导入后的 Git 仓库能在 Web 页面中稳定浏览，并支撑文件级和行级讨论。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约25秒：本页展示讨论和通知闭环。评论区承接围绕仓库或代码的讨论，个人中心展示通知和我的评论，用户不需要反复查找原页面也能继续参与讨论。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约25秒：本页说明好友和私信不是泛聊天，而是公开代码讨论之后的轻量关系延伸。这里展示 fpsmeimei 与 001 的好友私聊和未读消息能力。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约25秒：本页说明 AI 仓库小助手的边界。它主要服务仓库发现和仓库理解，包括热门推荐、按技术方向查找和生成简介，不把它包装成无边界的通用聊天机器人。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约25秒：本页展示管理员视角。控制台不是复杂后台 CMS，而是答辩和日常观察用的管理面，能看到用户、仓库、评论、快照，以及 API、Worker、数据库、Redis 的状态。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约25秒：本页收束总结，按六个验证点快速回顾：导入、社区、权限、代码浏览、互动、控制台。最后强调系统已经形成完整本地演示闭环，符合毕业设计对功能实现和可演示性的要求。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2"/>
          </a:solidFill>
          <a:ln w="12700">
            <a:solidFill>
              <a:srgbClr val="1017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8BD7E8"/>
          </a:solidFill>
          <a:ln w="12700">
            <a:solidFill>
              <a:srgbClr val="8BD7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06440" y="914400"/>
            <a:ext cx="5440680" cy="4315968"/>
          </a:xfrm>
          <a:prstGeom prst="roundRect">
            <a:avLst>
              <a:gd name="adj" fmla="val 3814"/>
            </a:avLst>
          </a:prstGeom>
          <a:solidFill>
            <a:srgbClr val="1A2636"/>
          </a:solidFill>
          <a:ln w="11430">
            <a:solidFill>
              <a:srgbClr val="33445A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24000"/>
              </a:srgbClr>
            </a:outerShdw>
          </a:effectLst>
        </p:spPr>
      </p:sp>
      <p:pic>
        <p:nvPicPr>
          <p:cNvPr id="5" name="Image 0" descr="/Users/fpsmeimei/Projects/relax-git/outputs/ppt-work/assets/01_about_intro_i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930988"/>
            <a:ext cx="5074920" cy="22736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80760" y="5422392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BD7E8"/>
                </a:solidFill>
              </a:rPr>
              <a:t>真实页面截图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150608" y="5422392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394AA"/>
                </a:solidFill>
              </a:rPr>
              <a:t>本机 localhost:3000 演示环境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658368" y="10972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Relax-Git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685800" y="17830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8BD7E8"/>
                </a:solidFill>
              </a:rPr>
              <a:t>基于 Web 的线上代码仓库智能社交平台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13232" y="2487168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B8C4D3"/>
                </a:solidFill>
              </a:rPr>
              <a:t>围绕仓库导入、快照浏览、代码讨论、通知私信、AI 辅助与管理观察构建完整演示链路。</a:t>
            </a:r>
            <a:endParaRPr lang="en-US" sz="1180" dirty="0"/>
          </a:p>
        </p:txBody>
      </p:sp>
      <p:sp>
        <p:nvSpPr>
          <p:cNvPr id="11" name="Shape 8"/>
          <p:cNvSpPr/>
          <p:nvPr/>
        </p:nvSpPr>
        <p:spPr>
          <a:xfrm>
            <a:off x="713232" y="4800600"/>
            <a:ext cx="1115568" cy="274320"/>
          </a:xfrm>
          <a:prstGeom prst="roundRect">
            <a:avLst>
              <a:gd name="adj" fmla="val 23333"/>
            </a:avLst>
          </a:prstGeom>
          <a:solidFill>
            <a:srgbClr val="7AA2F7">
              <a:alpha val="12000"/>
            </a:srgbClr>
          </a:solidFill>
          <a:ln w="6350">
            <a:solidFill>
              <a:srgbClr val="7AA2F7">
                <a:alpha val="7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6384" y="4855464"/>
            <a:ext cx="969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7AA2F7"/>
                </a:solidFill>
              </a:rPr>
              <a:t>智能2201</a:t>
            </a:r>
            <a:endParaRPr lang="en-US" sz="730" dirty="0"/>
          </a:p>
        </p:txBody>
      </p:sp>
      <p:sp>
        <p:nvSpPr>
          <p:cNvPr id="13" name="Shape 10"/>
          <p:cNvSpPr/>
          <p:nvPr/>
        </p:nvSpPr>
        <p:spPr>
          <a:xfrm>
            <a:off x="1993392" y="4800600"/>
            <a:ext cx="1115568" cy="274320"/>
          </a:xfrm>
          <a:prstGeom prst="roundRect">
            <a:avLst>
              <a:gd name="adj" fmla="val 23333"/>
            </a:avLst>
          </a:prstGeom>
          <a:solidFill>
            <a:srgbClr val="6EE7B7">
              <a:alpha val="12000"/>
            </a:srgbClr>
          </a:solidFill>
          <a:ln w="6350">
            <a:solidFill>
              <a:srgbClr val="6EE7B7">
                <a:alpha val="7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66544" y="4855464"/>
            <a:ext cx="969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6EE7B7"/>
                </a:solidFill>
              </a:rPr>
              <a:t>石政飏</a:t>
            </a:r>
            <a:endParaRPr lang="en-US" sz="730" dirty="0"/>
          </a:p>
        </p:txBody>
      </p:sp>
      <p:sp>
        <p:nvSpPr>
          <p:cNvPr id="15" name="Shape 12"/>
          <p:cNvSpPr/>
          <p:nvPr/>
        </p:nvSpPr>
        <p:spPr>
          <a:xfrm>
            <a:off x="3273552" y="4800600"/>
            <a:ext cx="1115568" cy="274320"/>
          </a:xfrm>
          <a:prstGeom prst="roundRect">
            <a:avLst>
              <a:gd name="adj" fmla="val 23333"/>
            </a:avLst>
          </a:prstGeom>
          <a:solidFill>
            <a:srgbClr val="F5C56B">
              <a:alpha val="12000"/>
            </a:srgbClr>
          </a:solidFill>
          <a:ln w="6350">
            <a:solidFill>
              <a:srgbClr val="F5C56B">
                <a:alpha val="7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46704" y="4855464"/>
            <a:ext cx="969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5C56B"/>
                </a:solidFill>
              </a:rPr>
              <a:t>本地演示</a:t>
            </a:r>
            <a:endParaRPr lang="en-US" sz="730" dirty="0"/>
          </a:p>
        </p:txBody>
      </p:sp>
      <p:sp>
        <p:nvSpPr>
          <p:cNvPr id="17" name="Text 14"/>
          <p:cNvSpPr/>
          <p:nvPr/>
        </p:nvSpPr>
        <p:spPr>
          <a:xfrm>
            <a:off x="713232" y="63093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889D"/>
                </a:solidFill>
              </a:rPr>
              <a:t>毕业设计答辩 · 图文证据来自本机真实页面截图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B88A8"/>
          </a:solidFill>
          <a:ln w="12700">
            <a:solidFill>
              <a:srgbClr val="0B8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0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88A8"/>
                </a:solidFill>
              </a:rPr>
              <a:t>Relax-Git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201400" y="3200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7386"/>
                </a:solidFill>
              </a:rPr>
              <a:t>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" y="6583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88A8"/>
                </a:solidFill>
              </a:rPr>
              <a:t>01 / 选题定位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89611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033"/>
                </a:solidFill>
              </a:rPr>
              <a:t>课题背景与建设目标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1554480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62033"/>
                </a:solidFill>
              </a:rPr>
              <a:t>面向代码仓库学习与协作场景，构建集导入、浏览、讨论、消息与智能辅助于一体的本地演示系统。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685800" y="2743200"/>
            <a:ext cx="1325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E4EBF3"/>
            </a:solidFill>
            <a:prstDash val="solid"/>
          </a:ln>
          <a:effectLst>
            <a:outerShdw sx="100000" sy="100000" kx="0" ky="0" algn="bl" rotWithShape="0" blurRad="12700" dist="50800" dir="2700000">
              <a:srgbClr val="A9B6C6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5528" y="296265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88A8"/>
                </a:solidFill>
              </a:rPr>
              <a:t>导入仓库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011680" y="3072384"/>
            <a:ext cx="475488" cy="0"/>
          </a:xfrm>
          <a:prstGeom prst="line">
            <a:avLst/>
          </a:prstGeom>
          <a:noFill/>
          <a:ln w="15240">
            <a:solidFill>
              <a:srgbClr val="E4EBF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487168" y="2743200"/>
            <a:ext cx="1325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E4EBF3"/>
            </a:solidFill>
            <a:prstDash val="solid"/>
          </a:ln>
          <a:effectLst>
            <a:outerShdw sx="100000" sy="100000" kx="0" ky="0" algn="bl" rotWithShape="0" blurRad="12700" dist="50800" dir="2700000">
              <a:srgbClr val="A9B6C6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96896" y="296265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2815B"/>
                </a:solidFill>
              </a:rPr>
              <a:t>生成快照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13048" y="3072384"/>
            <a:ext cx="475488" cy="0"/>
          </a:xfrm>
          <a:prstGeom prst="line">
            <a:avLst/>
          </a:prstGeom>
          <a:noFill/>
          <a:ln w="15240">
            <a:solidFill>
              <a:srgbClr val="E4EBF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288536" y="2743200"/>
            <a:ext cx="1325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E4EBF3"/>
            </a:solidFill>
            <a:prstDash val="solid"/>
          </a:ln>
          <a:effectLst>
            <a:outerShdw sx="100000" sy="100000" kx="0" ky="0" algn="bl" rotWithShape="0" blurRad="12700" dist="50800" dir="2700000">
              <a:srgbClr val="A9B6C6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398264" y="296265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7791F"/>
                </a:solidFill>
              </a:rPr>
              <a:t>浏览代码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614416" y="3072384"/>
            <a:ext cx="475488" cy="0"/>
          </a:xfrm>
          <a:prstGeom prst="line">
            <a:avLst/>
          </a:prstGeom>
          <a:noFill/>
          <a:ln w="15240">
            <a:solidFill>
              <a:srgbClr val="E4EBF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089904" y="2743200"/>
            <a:ext cx="1325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E4EBF3"/>
            </a:solidFill>
            <a:prstDash val="solid"/>
          </a:ln>
          <a:effectLst>
            <a:outerShdw sx="100000" sy="100000" kx="0" ky="0" algn="bl" rotWithShape="0" blurRad="12700" dist="50800" dir="2700000">
              <a:srgbClr val="A9B6C6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99632" y="296265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5BFE"/>
                </a:solidFill>
              </a:rPr>
              <a:t>评论通知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415784" y="3072384"/>
            <a:ext cx="475488" cy="0"/>
          </a:xfrm>
          <a:prstGeom prst="line">
            <a:avLst/>
          </a:prstGeom>
          <a:noFill/>
          <a:ln w="15240">
            <a:solidFill>
              <a:srgbClr val="E4EBF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891272" y="2743200"/>
            <a:ext cx="1325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E4EBF3"/>
            </a:solidFill>
            <a:prstDash val="solid"/>
          </a:ln>
          <a:effectLst>
            <a:outerShdw sx="100000" sy="100000" kx="0" ky="0" algn="bl" rotWithShape="0" blurRad="12700" dist="50800" dir="2700000">
              <a:srgbClr val="A9B6C6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001000" y="296265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2410C"/>
                </a:solidFill>
              </a:rPr>
              <a:t>好友私信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217152" y="3072384"/>
            <a:ext cx="475488" cy="0"/>
          </a:xfrm>
          <a:prstGeom prst="line">
            <a:avLst/>
          </a:prstGeom>
          <a:noFill/>
          <a:ln w="15240">
            <a:solidFill>
              <a:srgbClr val="E4EBF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692640" y="2743200"/>
            <a:ext cx="1325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E4EBF3"/>
            </a:solidFill>
            <a:prstDash val="solid"/>
          </a:ln>
          <a:effectLst>
            <a:outerShdw sx="100000" sy="100000" kx="0" ky="0" algn="bl" rotWithShape="0" blurRad="12700" dist="50800" dir="2700000">
              <a:srgbClr val="A9B6C6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802368" y="296265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88A8"/>
                </a:solidFill>
              </a:rPr>
              <a:t>运营观察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85800" y="4160520"/>
            <a:ext cx="51663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4EBF3"/>
            </a:solidFill>
            <a:prstDash val="solid"/>
          </a:ln>
          <a:effectLst>
            <a:outerShdw sx="100000" sy="100000" kx="0" ky="0" algn="bl" rotWithShape="0" blurRad="12700" dist="50800" dir="2700000">
              <a:srgbClr val="A9B6C6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55080" y="4160520"/>
            <a:ext cx="51663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4EBF3"/>
            </a:solidFill>
            <a:prstDash val="solid"/>
          </a:ln>
          <a:effectLst>
            <a:outerShdw sx="100000" sy="100000" kx="0" ky="0" algn="bl" rotWithShape="0" blurRad="12700" dist="50800" dir="2700000">
              <a:srgbClr val="A9B6C6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32688" y="44165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88A8"/>
                </a:solidFill>
              </a:rPr>
              <a:t>研究主线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65960" y="4425696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62033"/>
                </a:solidFill>
              </a:rPr>
              <a:t>围绕仓库内容组织社区互动与代码讨论。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6601968" y="44165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88A8"/>
                </a:solidFill>
              </a:rPr>
              <a:t>验证路径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635240" y="4425696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62033"/>
                </a:solidFill>
              </a:rPr>
              <a:t>通过所有者、成员、普通用户三类视角验证权限边界。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8890">
            <a:solidFill>
              <a:srgbClr val="E4EB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6583680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793A3"/>
                </a:solidFill>
              </a:rPr>
              <a:t>论文对应：3.1 系统业务流程、3.4 功能需求分析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B88A8"/>
          </a:solidFill>
          <a:ln w="12700">
            <a:solidFill>
              <a:srgbClr val="0B8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0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88A8"/>
                </a:solidFill>
              </a:rPr>
              <a:t>Relax-Git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201400" y="3200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7386"/>
                </a:solidFill>
              </a:rPr>
              <a:t>03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" y="6583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88A8"/>
                </a:solidFill>
              </a:rPr>
              <a:t>02 / 系统设计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89611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033"/>
                </a:solidFill>
              </a:rPr>
              <a:t>系统总体架构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77240" y="1874520"/>
            <a:ext cx="1572768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0160">
            <a:solidFill>
              <a:srgbClr val="E4EBF3"/>
            </a:solidFill>
            <a:prstDash val="solid"/>
          </a:ln>
          <a:effectLst>
            <a:outerShdw sx="100000" sy="100000" kx="0" ky="0" algn="bl" rotWithShape="0" blurRad="12700" dist="50800" dir="2700000">
              <a:srgbClr val="A9B6C6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86968" y="2121408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88A8"/>
                </a:solidFill>
              </a:rPr>
              <a:t>Next.js Web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017520" y="1874520"/>
            <a:ext cx="1572768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0160">
            <a:solidFill>
              <a:srgbClr val="E4EBF3"/>
            </a:solidFill>
            <a:prstDash val="solid"/>
          </a:ln>
          <a:effectLst>
            <a:outerShdw sx="100000" sy="100000" kx="0" ky="0" algn="bl" rotWithShape="0" blurRad="12700" dist="50800" dir="2700000">
              <a:srgbClr val="A9B6C6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27248" y="2121408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815B"/>
                </a:solidFill>
              </a:rPr>
              <a:t>NestJS API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257800" y="1234440"/>
            <a:ext cx="1572768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0160">
            <a:solidFill>
              <a:srgbClr val="E4EBF3"/>
            </a:solidFill>
            <a:prstDash val="solid"/>
          </a:ln>
          <a:effectLst>
            <a:outerShdw sx="100000" sy="100000" kx="0" ky="0" algn="bl" rotWithShape="0" blurRad="12700" dist="50800" dir="2700000">
              <a:srgbClr val="A9B6C6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67528" y="1481328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7791F"/>
                </a:solidFill>
              </a:rPr>
              <a:t>PostgreSQL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257800" y="2542032"/>
            <a:ext cx="1572768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0160">
            <a:solidFill>
              <a:srgbClr val="E4EBF3"/>
            </a:solidFill>
            <a:prstDash val="solid"/>
          </a:ln>
          <a:effectLst>
            <a:outerShdw sx="100000" sy="100000" kx="0" ky="0" algn="bl" rotWithShape="0" blurRad="12700" dist="50800" dir="2700000">
              <a:srgbClr val="A9B6C6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67528" y="2788920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5BFE"/>
                </a:solidFill>
              </a:rPr>
              <a:t>Redis / BullMQ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543800" y="1874520"/>
            <a:ext cx="1572768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0160">
            <a:solidFill>
              <a:srgbClr val="E4EBF3"/>
            </a:solidFill>
            <a:prstDash val="solid"/>
          </a:ln>
          <a:effectLst>
            <a:outerShdw sx="100000" sy="100000" kx="0" ky="0" algn="bl" rotWithShape="0" blurRad="12700" dist="50800" dir="2700000">
              <a:srgbClr val="A9B6C6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53528" y="2121408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2410C"/>
                </a:solidFill>
              </a:rPr>
              <a:t>Go Worker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784080" y="1874520"/>
            <a:ext cx="1572768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0160">
            <a:solidFill>
              <a:srgbClr val="E4EBF3"/>
            </a:solidFill>
            <a:prstDash val="solid"/>
          </a:ln>
          <a:effectLst>
            <a:outerShdw sx="100000" sy="100000" kx="0" ky="0" algn="bl" rotWithShape="0" blurRad="12700" dist="50800" dir="2700000">
              <a:srgbClr val="A9B6C6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893808" y="2121408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88A8"/>
                </a:solidFill>
              </a:rPr>
              <a:t>Git / Worktree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350008" y="2212848"/>
            <a:ext cx="594360" cy="0"/>
          </a:xfrm>
          <a:prstGeom prst="line">
            <a:avLst/>
          </a:prstGeom>
          <a:noFill/>
          <a:ln w="15240">
            <a:solidFill>
              <a:srgbClr val="0B88A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90288" y="2212848"/>
            <a:ext cx="576072" cy="-640080"/>
          </a:xfrm>
          <a:prstGeom prst="line">
            <a:avLst/>
          </a:prstGeom>
          <a:noFill/>
          <a:ln w="15240">
            <a:solidFill>
              <a:srgbClr val="0B88A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590288" y="2212848"/>
            <a:ext cx="576072" cy="667512"/>
          </a:xfrm>
          <a:prstGeom prst="line">
            <a:avLst/>
          </a:prstGeom>
          <a:noFill/>
          <a:ln w="15240">
            <a:solidFill>
              <a:srgbClr val="0B88A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830568" y="2880360"/>
            <a:ext cx="621792" cy="-667512"/>
          </a:xfrm>
          <a:prstGeom prst="line">
            <a:avLst/>
          </a:prstGeom>
          <a:noFill/>
          <a:ln w="15240">
            <a:solidFill>
              <a:srgbClr val="0B88A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116568" y="2212848"/>
            <a:ext cx="576072" cy="0"/>
          </a:xfrm>
          <a:prstGeom prst="line">
            <a:avLst/>
          </a:prstGeom>
          <a:noFill/>
          <a:ln w="15240">
            <a:solidFill>
              <a:srgbClr val="0B88A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87552" y="4206240"/>
            <a:ext cx="10104120" cy="1051560"/>
          </a:xfrm>
          <a:prstGeom prst="roundRect">
            <a:avLst>
              <a:gd name="adj" fmla="val 10435"/>
            </a:avLst>
          </a:prstGeom>
          <a:solidFill>
            <a:srgbClr val="EEF4FA"/>
          </a:solidFill>
          <a:ln w="10160">
            <a:solidFill>
              <a:srgbClr val="E4EBF3"/>
            </a:solidFill>
            <a:prstDash val="solid"/>
          </a:ln>
          <a:effectLst>
            <a:outerShdw sx="100000" sy="100000" kx="0" ky="0" algn="bl" rotWithShape="0" blurRad="12700" dist="50800" dir="2700000">
              <a:srgbClr val="A9B6C6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261872" y="4507992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62033"/>
                </a:solidFill>
              </a:rPr>
              <a:t>•  Web 前端负责页面交互，API 服务负责认证、仓库、社区、评论、消息等业务接口。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1261872" y="4791456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62033"/>
                </a:solidFill>
              </a:rPr>
              <a:t>•  Redis 队列承接仓库快照任务，Go Worker 异步执行 Git 克隆、worktree 与 bundle 生成。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1261872" y="5074920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62033"/>
                </a:solidFill>
              </a:rPr>
              <a:t>•  PostgreSQL 持久化用户、仓库、快照和互动数据；本地容器环境支撑答辩演示。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8890">
            <a:solidFill>
              <a:srgbClr val="E4EB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6583680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793A3"/>
                </a:solidFill>
              </a:rPr>
              <a:t>论文对应：4.2 系统总体架构、4.7 实时通信与异步任务设计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B88A8"/>
          </a:solidFill>
          <a:ln w="12700">
            <a:solidFill>
              <a:srgbClr val="0B8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0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88A8"/>
                </a:solidFill>
              </a:rPr>
              <a:t>Relax-Git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201400" y="3200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7386"/>
                </a:solidFill>
              </a:rPr>
              <a:t>04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" y="6583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88A8"/>
                </a:solidFill>
              </a:rPr>
              <a:t>03 / 需求追踪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89611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033"/>
                </a:solidFill>
              </a:rPr>
              <a:t>角色与权限边界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2926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E4EBF3"/>
            </a:solidFill>
            <a:prstDash val="solid"/>
          </a:ln>
          <a:effectLst>
            <a:outerShdw sx="100000" sy="100000" kx="0" ky="0" algn="bl" rotWithShape="0" blurRad="12700" dist="50800" dir="2700000">
              <a:srgbClr val="A9B6C6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21214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88A8"/>
                </a:solidFill>
              </a:rPr>
              <a:t>fpsmeimei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2560320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57386"/>
                </a:solidFill>
              </a:rPr>
              <a:t>管理员 / 所有者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26280" y="1828800"/>
            <a:ext cx="2926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E4EBF3"/>
            </a:solidFill>
            <a:prstDash val="solid"/>
          </a:ln>
          <a:effectLst>
            <a:outerShdw sx="100000" sy="100000" kx="0" ky="0" algn="bl" rotWithShape="0" blurRad="12700" dist="50800" dir="2700000">
              <a:srgbClr val="A9B6C6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21214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815B"/>
                </a:solidFill>
              </a:rPr>
              <a:t>001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2560320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57386"/>
                </a:solidFill>
              </a:rPr>
              <a:t>js-snake 成员 / 好友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229600" y="1828800"/>
            <a:ext cx="2926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E4EBF3"/>
            </a:solidFill>
            <a:prstDash val="solid"/>
          </a:ln>
          <a:effectLst>
            <a:outerShdw sx="100000" sy="100000" kx="0" ky="0" algn="bl" rotWithShape="0" blurRad="12700" dist="50800" dir="2700000">
              <a:srgbClr val="A9B6C6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58200" y="21214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410C"/>
                </a:solidFill>
              </a:rPr>
              <a:t>002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58200" y="2560320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57386"/>
                </a:solidFill>
              </a:rPr>
              <a:t>普通用户 / 非成员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143000" y="3977640"/>
            <a:ext cx="9921240" cy="1097280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 w="10160">
            <a:solidFill>
              <a:srgbClr val="E4EBF3"/>
            </a:solidFill>
            <a:prstDash val="solid"/>
          </a:ln>
          <a:effectLst>
            <a:outerShdw sx="100000" sy="100000" kx="0" ky="0" algn="bl" rotWithShape="0" blurRad="12700" dist="50800" dir="2700000">
              <a:srgbClr val="A9B6C6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417320" y="427939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88A8"/>
                </a:solidFill>
              </a:rPr>
              <a:t>权限验证点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50592" y="427939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2033"/>
                </a:solidFill>
              </a:rPr>
              <a:t>同一个内部仓库在所有者、成员、非成员视角下形成不同操作边界；管理员额外拥有控制台入口。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8890">
            <a:solidFill>
              <a:srgbClr val="E4EB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583680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793A3"/>
                </a:solidFill>
              </a:rPr>
              <a:t>论文对应：3.3 系统角色与用例分析、4.8 权限与安全设计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B88A8"/>
          </a:solidFill>
          <a:ln w="12700">
            <a:solidFill>
              <a:srgbClr val="0B8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0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88A8"/>
                </a:solidFill>
              </a:rPr>
              <a:t>Relax-Git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201400" y="3200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7386"/>
                </a:solidFill>
              </a:rPr>
              <a:t>05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" y="6583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88A8"/>
                </a:solidFill>
              </a:rPr>
              <a:t>04 / 社区内容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89611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033"/>
                </a:solidFill>
              </a:rPr>
              <a:t>社区发现：公开项目与内部项目都能被发现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12648" y="1499616"/>
            <a:ext cx="7598664" cy="4398264"/>
          </a:xfrm>
          <a:prstGeom prst="roundRect">
            <a:avLst>
              <a:gd name="adj" fmla="val 2495"/>
            </a:avLst>
          </a:prstGeom>
          <a:solidFill>
            <a:srgbClr val="FFFFFF"/>
          </a:solidFill>
          <a:ln w="10160">
            <a:solidFill>
              <a:srgbClr val="E4EBF3"/>
            </a:solidFill>
            <a:prstDash val="solid"/>
          </a:ln>
          <a:effectLst>
            <a:outerShdw sx="100000" sy="100000" kx="0" ky="0" algn="bl" rotWithShape="0" blurRad="12700" dist="50800" dir="2700000">
              <a:srgbClr val="A9B6C6">
                <a:alpha val="16000"/>
              </a:srgbClr>
            </a:outerShdw>
          </a:effectLst>
        </p:spPr>
      </p:sp>
      <p:pic>
        <p:nvPicPr>
          <p:cNvPr id="9" name="Image 0" descr="/Users/fpsmeimei/Projects/relax-git/outputs/ppt-work/assets/02_community_feed_i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1900" y="1572768"/>
            <a:ext cx="6100160" cy="42519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41080" y="1755648"/>
            <a:ext cx="2606040" cy="35204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E4EBF3"/>
            </a:solidFill>
            <a:prstDash val="solid"/>
          </a:ln>
          <a:effectLst>
            <a:outerShdw sx="100000" sy="100000" kx="0" ky="0" algn="bl" rotWithShape="0" blurRad="12700" dist="50800" dir="2700000">
              <a:srgbClr val="A9B6C6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887968" y="203911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88A8"/>
                </a:solidFill>
              </a:rPr>
              <a:t>功能呈现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887968" y="254203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62033"/>
                </a:solidFill>
              </a:rPr>
              <a:t>•  js-snake 是内部仓库，但在社区可见。</a:t>
            </a:r>
            <a:endParaRPr lang="en-US" sz="920" dirty="0"/>
          </a:p>
        </p:txBody>
      </p:sp>
      <p:sp>
        <p:nvSpPr>
          <p:cNvPr id="13" name="Text 10"/>
          <p:cNvSpPr/>
          <p:nvPr/>
        </p:nvSpPr>
        <p:spPr>
          <a:xfrm>
            <a:off x="8887968" y="2980944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62033"/>
                </a:solidFill>
              </a:rPr>
              <a:t>•  2048 是公开仓库，作为普通社区内容展示。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8887968" y="3419856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62033"/>
                </a:solidFill>
              </a:rPr>
              <a:t>•  搜索和排序提供基础发现能力。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8890">
            <a:solidFill>
              <a:srgbClr val="E4EBF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6583680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793A3"/>
                </a:solidFill>
              </a:rPr>
              <a:t>论文对应：5.4 社区互动与行级评论模块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B88A8"/>
          </a:solidFill>
          <a:ln w="12700">
            <a:solidFill>
              <a:srgbClr val="0B8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0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88A8"/>
                </a:solidFill>
              </a:rPr>
              <a:t>Relax-Git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201400" y="3200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7386"/>
                </a:solidFill>
              </a:rPr>
              <a:t>06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" y="6583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88A8"/>
                </a:solidFill>
              </a:rPr>
              <a:t>05 / 内容来源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89611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033"/>
                </a:solidFill>
              </a:rPr>
              <a:t>仓库导入与个人仓库管理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85216" y="1508760"/>
            <a:ext cx="5404104" cy="4123944"/>
          </a:xfrm>
          <a:prstGeom prst="roundRect">
            <a:avLst>
              <a:gd name="adj" fmla="val 2661"/>
            </a:avLst>
          </a:prstGeom>
          <a:solidFill>
            <a:srgbClr val="FFFFFF"/>
          </a:solidFill>
          <a:ln w="10160">
            <a:solidFill>
              <a:srgbClr val="E4EBF3"/>
            </a:solidFill>
            <a:prstDash val="solid"/>
          </a:ln>
          <a:effectLst>
            <a:outerShdw sx="100000" sy="100000" kx="0" ky="0" algn="bl" rotWithShape="0" blurRad="12700" dist="50800" dir="2700000">
              <a:srgbClr val="A9B6C6">
                <a:alpha val="16000"/>
              </a:srgbClr>
            </a:outerShdw>
          </a:effectLst>
        </p:spPr>
      </p:sp>
      <p:pic>
        <p:nvPicPr>
          <p:cNvPr id="9" name="Image 0" descr="/Users/fpsmeimei/Projects/relax-git/outputs/ppt-work/assets/03_my_repositories_i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392942"/>
            <a:ext cx="5257800" cy="235558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17920" y="1508760"/>
            <a:ext cx="5404104" cy="4123944"/>
          </a:xfrm>
          <a:prstGeom prst="roundRect">
            <a:avLst>
              <a:gd name="adj" fmla="val 2661"/>
            </a:avLst>
          </a:prstGeom>
          <a:solidFill>
            <a:srgbClr val="FFFFFF"/>
          </a:solidFill>
          <a:ln w="10160">
            <a:solidFill>
              <a:srgbClr val="E4EBF3"/>
            </a:solidFill>
            <a:prstDash val="solid"/>
          </a:ln>
          <a:effectLst>
            <a:outerShdw sx="100000" sy="100000" kx="0" ky="0" algn="bl" rotWithShape="0" blurRad="12700" dist="50800" dir="2700000">
              <a:srgbClr val="A9B6C6">
                <a:alpha val="16000"/>
              </a:srgbClr>
            </a:outerShdw>
          </a:effectLst>
        </p:spPr>
      </p:sp>
      <p:pic>
        <p:nvPicPr>
          <p:cNvPr id="11" name="Image 1" descr="/Users/fpsmeimei/Projects/relax-git/outputs/ppt-work/assets/04_import_repository_ia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392942"/>
            <a:ext cx="5257800" cy="2355581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960120" y="5897880"/>
            <a:ext cx="45720" cy="502920"/>
          </a:xfrm>
          <a:prstGeom prst="rect">
            <a:avLst/>
          </a:prstGeom>
          <a:solidFill>
            <a:srgbClr val="0B88A8"/>
          </a:solidFill>
          <a:ln w="12700">
            <a:solidFill>
              <a:srgbClr val="0B88A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124712" y="591616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57386"/>
                </a:solidFill>
              </a:rPr>
              <a:t>导入解决内容来源问题；快照解决代码内容可浏览问题。</a:t>
            </a:r>
            <a:endParaRPr lang="en-US" sz="1020" dirty="0"/>
          </a:p>
        </p:txBody>
      </p:sp>
      <p:sp>
        <p:nvSpPr>
          <p:cNvPr id="14" name="Shape 10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8890">
            <a:solidFill>
              <a:srgbClr val="E4EBF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66928" y="6583680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793A3"/>
                </a:solidFill>
              </a:rPr>
              <a:t>论文对应：5.2 仓库导入与仓库管理模块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B88A8"/>
          </a:solidFill>
          <a:ln w="12700">
            <a:solidFill>
              <a:srgbClr val="0B8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0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88A8"/>
                </a:solidFill>
              </a:rPr>
              <a:t>Relax-Git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201400" y="3200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7386"/>
                </a:solidFill>
              </a:rPr>
              <a:t>07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" y="6583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88A8"/>
                </a:solidFill>
              </a:rPr>
              <a:t>06 / 成员系统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89611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033"/>
                </a:solidFill>
              </a:rPr>
              <a:t>内部仓库权限：公开可见，成员参与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85216" y="1481328"/>
            <a:ext cx="5449824" cy="4032504"/>
          </a:xfrm>
          <a:prstGeom prst="roundRect">
            <a:avLst>
              <a:gd name="adj" fmla="val 2721"/>
            </a:avLst>
          </a:prstGeom>
          <a:solidFill>
            <a:srgbClr val="FFFFFF"/>
          </a:solidFill>
          <a:ln w="10160">
            <a:solidFill>
              <a:srgbClr val="E4EBF3"/>
            </a:solidFill>
            <a:prstDash val="solid"/>
          </a:ln>
          <a:effectLst>
            <a:outerShdw sx="100000" sy="100000" kx="0" ky="0" algn="bl" rotWithShape="0" blurRad="12700" dist="50800" dir="2700000">
              <a:srgbClr val="A9B6C6">
                <a:alpha val="16000"/>
              </a:srgbClr>
            </a:outerShdw>
          </a:effectLst>
        </p:spPr>
      </p:sp>
      <p:pic>
        <p:nvPicPr>
          <p:cNvPr id="9" name="Image 0" descr="/Users/fpsmeimei/Projects/relax-git/outputs/ppt-work/assets/05_repo_overview_internal_i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309548"/>
            <a:ext cx="5303520" cy="237606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36208" y="1481328"/>
            <a:ext cx="5376672" cy="4032504"/>
          </a:xfrm>
          <a:prstGeom prst="roundRect">
            <a:avLst>
              <a:gd name="adj" fmla="val 2721"/>
            </a:avLst>
          </a:prstGeom>
          <a:solidFill>
            <a:srgbClr val="FFFFFF"/>
          </a:solidFill>
          <a:ln w="10160">
            <a:solidFill>
              <a:srgbClr val="E4EBF3"/>
            </a:solidFill>
            <a:prstDash val="solid"/>
          </a:ln>
          <a:effectLst>
            <a:outerShdw sx="100000" sy="100000" kx="0" ky="0" algn="bl" rotWithShape="0" blurRad="12700" dist="50800" dir="2700000">
              <a:srgbClr val="A9B6C6">
                <a:alpha val="16000"/>
              </a:srgbClr>
            </a:outerShdw>
          </a:effectLst>
        </p:spPr>
      </p:sp>
      <p:pic>
        <p:nvPicPr>
          <p:cNvPr id="11" name="Image 1" descr="/Users/fpsmeimei/Projects/relax-git/outputs/ppt-work/assets/06_repo_members_ia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25935"/>
            <a:ext cx="5230368" cy="2343291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68680" y="5687568"/>
            <a:ext cx="1115568" cy="274320"/>
          </a:xfrm>
          <a:prstGeom prst="roundRect">
            <a:avLst>
              <a:gd name="adj" fmla="val 23333"/>
            </a:avLst>
          </a:prstGeom>
          <a:solidFill>
            <a:srgbClr val="B7791F">
              <a:alpha val="12000"/>
            </a:srgbClr>
          </a:solidFill>
          <a:ln w="6350">
            <a:solidFill>
              <a:srgbClr val="B7791F">
                <a:alpha val="70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41832" y="5742432"/>
            <a:ext cx="969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B7791F"/>
                </a:solidFill>
              </a:rPr>
              <a:t>内部仓库</a:t>
            </a:r>
            <a:endParaRPr lang="en-US" sz="730" dirty="0"/>
          </a:p>
        </p:txBody>
      </p:sp>
      <p:sp>
        <p:nvSpPr>
          <p:cNvPr id="14" name="Shape 10"/>
          <p:cNvSpPr/>
          <p:nvPr/>
        </p:nvSpPr>
        <p:spPr>
          <a:xfrm>
            <a:off x="2148840" y="5687568"/>
            <a:ext cx="1115568" cy="274320"/>
          </a:xfrm>
          <a:prstGeom prst="roundRect">
            <a:avLst>
              <a:gd name="adj" fmla="val 23333"/>
            </a:avLst>
          </a:prstGeom>
          <a:solidFill>
            <a:srgbClr val="0B88A8">
              <a:alpha val="12000"/>
            </a:srgbClr>
          </a:solidFill>
          <a:ln w="6350">
            <a:solidFill>
              <a:srgbClr val="0B88A8">
                <a:alpha val="7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221992" y="5742432"/>
            <a:ext cx="969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B88A8"/>
                </a:solidFill>
              </a:rPr>
              <a:t>所有者</a:t>
            </a:r>
            <a:endParaRPr lang="en-US" sz="730" dirty="0"/>
          </a:p>
        </p:txBody>
      </p:sp>
      <p:sp>
        <p:nvSpPr>
          <p:cNvPr id="16" name="Shape 12"/>
          <p:cNvSpPr/>
          <p:nvPr/>
        </p:nvSpPr>
        <p:spPr>
          <a:xfrm>
            <a:off x="3429000" y="5687568"/>
            <a:ext cx="1115568" cy="274320"/>
          </a:xfrm>
          <a:prstGeom prst="roundRect">
            <a:avLst>
              <a:gd name="adj" fmla="val 23333"/>
            </a:avLst>
          </a:prstGeom>
          <a:solidFill>
            <a:srgbClr val="12815B">
              <a:alpha val="12000"/>
            </a:srgbClr>
          </a:solidFill>
          <a:ln w="6350">
            <a:solidFill>
              <a:srgbClr val="12815B">
                <a:alpha val="70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502152" y="5742432"/>
            <a:ext cx="969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2815B"/>
                </a:solidFill>
              </a:rPr>
              <a:t>成员申请</a:t>
            </a:r>
            <a:endParaRPr lang="en-US" sz="730" dirty="0"/>
          </a:p>
        </p:txBody>
      </p:sp>
      <p:sp>
        <p:nvSpPr>
          <p:cNvPr id="18" name="Text 14"/>
          <p:cNvSpPr/>
          <p:nvPr/>
        </p:nvSpPr>
        <p:spPr>
          <a:xfrm>
            <a:off x="4892040" y="5751576"/>
            <a:ext cx="6035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162033"/>
                </a:solidFill>
              </a:rPr>
              <a:t>js-snake 用于答辩演示内部仓库：社区可见，但评论和成员操作由成员关系约束。</a:t>
            </a:r>
            <a:endParaRPr lang="en-US" sz="840" dirty="0"/>
          </a:p>
        </p:txBody>
      </p:sp>
      <p:sp>
        <p:nvSpPr>
          <p:cNvPr id="19" name="Shape 15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8890">
            <a:solidFill>
              <a:srgbClr val="E4EBF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66928" y="6583680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793A3"/>
                </a:solidFill>
              </a:rPr>
              <a:t>论文对应：3.3 角色用例、4.8 权限与安全设计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B88A8"/>
          </a:solidFill>
          <a:ln w="12700">
            <a:solidFill>
              <a:srgbClr val="0B8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0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88A8"/>
                </a:solidFill>
              </a:rPr>
              <a:t>Relax-Git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201400" y="3200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7386"/>
                </a:solidFill>
              </a:rPr>
              <a:t>08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" y="6583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88A8"/>
                </a:solidFill>
              </a:rPr>
              <a:t>07 / 核心特色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89611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033"/>
                </a:solidFill>
              </a:rPr>
              <a:t>快照代码浏览：文件树、代码内容与行级入口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85216" y="1371600"/>
            <a:ext cx="11073384" cy="4828032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0160">
            <a:solidFill>
              <a:srgbClr val="E4EBF3"/>
            </a:solidFill>
            <a:prstDash val="solid"/>
          </a:ln>
          <a:effectLst>
            <a:outerShdw sx="100000" sy="100000" kx="0" ky="0" algn="bl" rotWithShape="0" blurRad="12700" dist="50800" dir="2700000">
              <a:srgbClr val="A9B6C6">
                <a:alpha val="16000"/>
              </a:srgbClr>
            </a:outerShdw>
          </a:effectLst>
        </p:spPr>
      </p:sp>
      <p:pic>
        <p:nvPicPr>
          <p:cNvPr id="9" name="Image 0" descr="/Users/fpsmeimei/Projects/relax-git/outputs/ppt-work/assets/07_code_browser_i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957" y="1444752"/>
            <a:ext cx="10449903" cy="468172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8890">
            <a:solidFill>
              <a:srgbClr val="E4EBF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6583680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793A3"/>
                </a:solidFill>
              </a:rPr>
              <a:t>论文对应：5.3 快照生成与代码浏览模块、5.4 行级评论模块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B88A8"/>
          </a:solidFill>
          <a:ln w="12700">
            <a:solidFill>
              <a:srgbClr val="0B8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0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88A8"/>
                </a:solidFill>
              </a:rPr>
              <a:t>Relax-Git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201400" y="3200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7386"/>
                </a:solidFill>
              </a:rPr>
              <a:t>09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" y="6583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88A8"/>
                </a:solidFill>
              </a:rPr>
              <a:t>08 / 互动闭环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89611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033"/>
                </a:solidFill>
              </a:rPr>
              <a:t>评论与通知：讨论后的持续回流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85216" y="1499616"/>
            <a:ext cx="5404104" cy="4123944"/>
          </a:xfrm>
          <a:prstGeom prst="roundRect">
            <a:avLst>
              <a:gd name="adj" fmla="val 2661"/>
            </a:avLst>
          </a:prstGeom>
          <a:solidFill>
            <a:srgbClr val="FFFFFF"/>
          </a:solidFill>
          <a:ln w="10160">
            <a:solidFill>
              <a:srgbClr val="E4EBF3"/>
            </a:solidFill>
            <a:prstDash val="solid"/>
          </a:ln>
          <a:effectLst>
            <a:outerShdw sx="100000" sy="100000" kx="0" ky="0" algn="bl" rotWithShape="0" blurRad="12700" dist="50800" dir="2700000">
              <a:srgbClr val="A9B6C6">
                <a:alpha val="16000"/>
              </a:srgbClr>
            </a:outerShdw>
          </a:effectLst>
        </p:spPr>
      </p:sp>
      <p:pic>
        <p:nvPicPr>
          <p:cNvPr id="9" name="Image 0" descr="/Users/fpsmeimei/Projects/relax-git/outputs/ppt-work/assets/08_discussion_i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383798"/>
            <a:ext cx="5257800" cy="235558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17920" y="1499616"/>
            <a:ext cx="5404104" cy="4123944"/>
          </a:xfrm>
          <a:prstGeom prst="roundRect">
            <a:avLst>
              <a:gd name="adj" fmla="val 2661"/>
            </a:avLst>
          </a:prstGeom>
          <a:solidFill>
            <a:srgbClr val="FFFFFF"/>
          </a:solidFill>
          <a:ln w="10160">
            <a:solidFill>
              <a:srgbClr val="E4EBF3"/>
            </a:solidFill>
            <a:prstDash val="solid"/>
          </a:ln>
          <a:effectLst>
            <a:outerShdw sx="100000" sy="100000" kx="0" ky="0" algn="bl" rotWithShape="0" blurRad="12700" dist="50800" dir="2700000">
              <a:srgbClr val="A9B6C6">
                <a:alpha val="16000"/>
              </a:srgbClr>
            </a:outerShdw>
          </a:effectLst>
        </p:spPr>
      </p:sp>
      <p:pic>
        <p:nvPicPr>
          <p:cNvPr id="11" name="Image 1" descr="/Users/fpsmeimei/Projects/relax-git/outputs/ppt-work/assets/11_notifications_ia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383798"/>
            <a:ext cx="5257800" cy="2355581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960120" y="5897880"/>
            <a:ext cx="45720" cy="502920"/>
          </a:xfrm>
          <a:prstGeom prst="rect">
            <a:avLst/>
          </a:prstGeom>
          <a:solidFill>
            <a:srgbClr val="0B88A8"/>
          </a:solidFill>
          <a:ln w="12700">
            <a:solidFill>
              <a:srgbClr val="0B88A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124712" y="5916168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57386"/>
                </a:solidFill>
              </a:rPr>
              <a:t>评论、回复、点赞和解决状态触发通知，避免讨论沉没在单个页面里。</a:t>
            </a:r>
            <a:endParaRPr lang="en-US" sz="1020" dirty="0"/>
          </a:p>
        </p:txBody>
      </p:sp>
      <p:sp>
        <p:nvSpPr>
          <p:cNvPr id="14" name="Shape 10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8890">
            <a:solidFill>
              <a:srgbClr val="E4EBF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66928" y="6583680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793A3"/>
                </a:solidFill>
              </a:rPr>
              <a:t>论文对应：5.4 社区互动与行级评论模块、5.5 通知模块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B88A8"/>
          </a:solidFill>
          <a:ln w="12700">
            <a:solidFill>
              <a:srgbClr val="0B8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0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88A8"/>
                </a:solidFill>
              </a:rPr>
              <a:t>Relax-Git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201400" y="3200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7386"/>
                </a:solidFill>
              </a:rPr>
              <a:t>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" y="6583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88A8"/>
                </a:solidFill>
              </a:rPr>
              <a:t>09 / 关系层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89611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033"/>
                </a:solidFill>
              </a:rPr>
              <a:t>好友与私信：从公开讨论延伸到开发者连接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85216" y="1499616"/>
            <a:ext cx="5404104" cy="4123944"/>
          </a:xfrm>
          <a:prstGeom prst="roundRect">
            <a:avLst>
              <a:gd name="adj" fmla="val 2661"/>
            </a:avLst>
          </a:prstGeom>
          <a:solidFill>
            <a:srgbClr val="FFFFFF"/>
          </a:solidFill>
          <a:ln w="10160">
            <a:solidFill>
              <a:srgbClr val="E4EBF3"/>
            </a:solidFill>
            <a:prstDash val="solid"/>
          </a:ln>
          <a:effectLst>
            <a:outerShdw sx="100000" sy="100000" kx="0" ky="0" algn="bl" rotWithShape="0" blurRad="12700" dist="50800" dir="2700000">
              <a:srgbClr val="A9B6C6">
                <a:alpha val="16000"/>
              </a:srgbClr>
            </a:outerShdw>
          </a:effectLst>
        </p:spPr>
      </p:sp>
      <p:pic>
        <p:nvPicPr>
          <p:cNvPr id="9" name="Image 0" descr="/Users/fpsmeimei/Projects/relax-git/outputs/ppt-work/assets/10_messages_friends_i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383798"/>
            <a:ext cx="5257800" cy="235558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17920" y="1499616"/>
            <a:ext cx="5404104" cy="4123944"/>
          </a:xfrm>
          <a:prstGeom prst="roundRect">
            <a:avLst>
              <a:gd name="adj" fmla="val 2661"/>
            </a:avLst>
          </a:prstGeom>
          <a:solidFill>
            <a:srgbClr val="FFFFFF"/>
          </a:solidFill>
          <a:ln w="10160">
            <a:solidFill>
              <a:srgbClr val="E4EBF3"/>
            </a:solidFill>
            <a:prstDash val="solid"/>
          </a:ln>
          <a:effectLst>
            <a:outerShdw sx="100000" sy="100000" kx="0" ky="0" algn="bl" rotWithShape="0" blurRad="12700" dist="50800" dir="2700000">
              <a:srgbClr val="A9B6C6">
                <a:alpha val="16000"/>
              </a:srgbClr>
            </a:outerShdw>
          </a:effectLst>
        </p:spPr>
      </p:sp>
      <p:pic>
        <p:nvPicPr>
          <p:cNvPr id="11" name="Image 1" descr="/Users/fpsmeimei/Projects/relax-git/outputs/ppt-work/assets/14_001_friend_chat_ia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383798"/>
            <a:ext cx="5257800" cy="2355581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68680" y="5687568"/>
            <a:ext cx="1115568" cy="274320"/>
          </a:xfrm>
          <a:prstGeom prst="roundRect">
            <a:avLst>
              <a:gd name="adj" fmla="val 23333"/>
            </a:avLst>
          </a:prstGeom>
          <a:solidFill>
            <a:srgbClr val="12815B">
              <a:alpha val="12000"/>
            </a:srgbClr>
          </a:solidFill>
          <a:ln w="6350">
            <a:solidFill>
              <a:srgbClr val="12815B">
                <a:alpha val="70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41832" y="5742432"/>
            <a:ext cx="969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2815B"/>
                </a:solidFill>
              </a:rPr>
              <a:t>好友关系</a:t>
            </a:r>
            <a:endParaRPr lang="en-US" sz="730" dirty="0"/>
          </a:p>
        </p:txBody>
      </p:sp>
      <p:sp>
        <p:nvSpPr>
          <p:cNvPr id="14" name="Shape 10"/>
          <p:cNvSpPr/>
          <p:nvPr/>
        </p:nvSpPr>
        <p:spPr>
          <a:xfrm>
            <a:off x="2148840" y="5687568"/>
            <a:ext cx="1115568" cy="274320"/>
          </a:xfrm>
          <a:prstGeom prst="roundRect">
            <a:avLst>
              <a:gd name="adj" fmla="val 23333"/>
            </a:avLst>
          </a:prstGeom>
          <a:solidFill>
            <a:srgbClr val="0B88A8">
              <a:alpha val="12000"/>
            </a:srgbClr>
          </a:solidFill>
          <a:ln w="6350">
            <a:solidFill>
              <a:srgbClr val="0B88A8">
                <a:alpha val="7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221992" y="5742432"/>
            <a:ext cx="969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B88A8"/>
                </a:solidFill>
              </a:rPr>
              <a:t>私聊会话</a:t>
            </a:r>
            <a:endParaRPr lang="en-US" sz="730" dirty="0"/>
          </a:p>
        </p:txBody>
      </p:sp>
      <p:sp>
        <p:nvSpPr>
          <p:cNvPr id="16" name="Shape 12"/>
          <p:cNvSpPr/>
          <p:nvPr/>
        </p:nvSpPr>
        <p:spPr>
          <a:xfrm>
            <a:off x="3429000" y="5687568"/>
            <a:ext cx="1115568" cy="274320"/>
          </a:xfrm>
          <a:prstGeom prst="roundRect">
            <a:avLst>
              <a:gd name="adj" fmla="val 23333"/>
            </a:avLst>
          </a:prstGeom>
          <a:solidFill>
            <a:srgbClr val="B7791F">
              <a:alpha val="12000"/>
            </a:srgbClr>
          </a:solidFill>
          <a:ln w="6350">
            <a:solidFill>
              <a:srgbClr val="B7791F">
                <a:alpha val="70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502152" y="5742432"/>
            <a:ext cx="969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B7791F"/>
                </a:solidFill>
              </a:rPr>
              <a:t>未读消息</a:t>
            </a:r>
            <a:endParaRPr lang="en-US" sz="730" dirty="0"/>
          </a:p>
        </p:txBody>
      </p:sp>
      <p:sp>
        <p:nvSpPr>
          <p:cNvPr id="18" name="Text 14"/>
          <p:cNvSpPr/>
          <p:nvPr/>
        </p:nvSpPr>
        <p:spPr>
          <a:xfrm>
            <a:off x="4892040" y="5751576"/>
            <a:ext cx="6035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162033"/>
                </a:solidFill>
              </a:rPr>
              <a:t>论文中明确保留 DIRECT 私聊，冻结群聊创建，避免偏离代码仓库社交主线。</a:t>
            </a:r>
            <a:endParaRPr lang="en-US" sz="840" dirty="0"/>
          </a:p>
        </p:txBody>
      </p:sp>
      <p:sp>
        <p:nvSpPr>
          <p:cNvPr id="19" name="Shape 15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8890">
            <a:solidFill>
              <a:srgbClr val="E4EBF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66928" y="6583680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793A3"/>
                </a:solidFill>
              </a:rPr>
              <a:t>论文对应：5.5 好友与私信模块</a:t>
            </a:r>
            <a:endParaRPr lang="en-US" sz="6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B88A8"/>
          </a:solidFill>
          <a:ln w="12700">
            <a:solidFill>
              <a:srgbClr val="0B8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0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88A8"/>
                </a:solidFill>
              </a:rPr>
              <a:t>Relax-Git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201400" y="3200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7386"/>
                </a:solidFill>
              </a:rPr>
              <a:t>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" y="6583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88A8"/>
                </a:solidFill>
              </a:rPr>
              <a:t>10 / 智能辅助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89611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033"/>
                </a:solidFill>
              </a:rPr>
              <a:t>AI 仓库小助手：服务仓库发现与理解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12648" y="1481328"/>
            <a:ext cx="6912864" cy="4306824"/>
          </a:xfrm>
          <a:prstGeom prst="roundRect">
            <a:avLst>
              <a:gd name="adj" fmla="val 2548"/>
            </a:avLst>
          </a:prstGeom>
          <a:solidFill>
            <a:srgbClr val="FFFFFF"/>
          </a:solidFill>
          <a:ln w="10160">
            <a:solidFill>
              <a:srgbClr val="E4EBF3"/>
            </a:solidFill>
            <a:prstDash val="solid"/>
          </a:ln>
          <a:effectLst>
            <a:outerShdw sx="100000" sy="100000" kx="0" ky="0" algn="bl" rotWithShape="0" blurRad="12700" dist="50800" dir="2700000">
              <a:srgbClr val="A9B6C6">
                <a:alpha val="16000"/>
              </a:srgbClr>
            </a:outerShdw>
          </a:effectLst>
        </p:spPr>
      </p:sp>
      <p:pic>
        <p:nvPicPr>
          <p:cNvPr id="9" name="Image 0" descr="/Users/fpsmeimei/Projects/relax-git/outputs/ppt-work/assets/09_ai_assistant_i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18975"/>
            <a:ext cx="6766560" cy="303153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001000" y="1828800"/>
            <a:ext cx="2971800" cy="324612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0160">
            <a:solidFill>
              <a:srgbClr val="E4EBF3"/>
            </a:solidFill>
            <a:prstDash val="solid"/>
          </a:ln>
          <a:effectLst>
            <a:outerShdw sx="100000" sy="100000" kx="0" ky="0" algn="bl" rotWithShape="0" blurRad="12700" dist="50800" dir="2700000">
              <a:srgbClr val="A9B6C6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75320" y="213969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88A8"/>
                </a:solidFill>
              </a:rPr>
              <a:t>能力边界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75320" y="265176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62033"/>
                </a:solidFill>
              </a:rPr>
              <a:t>•  热门仓库推荐</a:t>
            </a:r>
            <a:endParaRPr lang="en-US" sz="920" dirty="0"/>
          </a:p>
        </p:txBody>
      </p:sp>
      <p:sp>
        <p:nvSpPr>
          <p:cNvPr id="13" name="Text 10"/>
          <p:cNvSpPr/>
          <p:nvPr/>
        </p:nvSpPr>
        <p:spPr>
          <a:xfrm>
            <a:off x="8275320" y="3072384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62033"/>
                </a:solidFill>
              </a:rPr>
              <a:t>•  按技术方向查找仓库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8275320" y="349300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62033"/>
                </a:solidFill>
              </a:rPr>
              <a:t>•  仓库简介生成</a:t>
            </a:r>
            <a:endParaRPr lang="en-US" sz="920" dirty="0"/>
          </a:p>
        </p:txBody>
      </p:sp>
      <p:sp>
        <p:nvSpPr>
          <p:cNvPr id="15" name="Text 12"/>
          <p:cNvSpPr/>
          <p:nvPr/>
        </p:nvSpPr>
        <p:spPr>
          <a:xfrm>
            <a:off x="8275320" y="391363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62033"/>
                </a:solidFill>
              </a:rPr>
              <a:t>•  聚焦仓库发现场景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8890">
            <a:solidFill>
              <a:srgbClr val="E4EBF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6583680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793A3"/>
                </a:solidFill>
              </a:rPr>
              <a:t>论文对应：5.6 智能仓库助手</a:t>
            </a:r>
            <a:endParaRPr lang="en-US" sz="6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B88A8"/>
          </a:solidFill>
          <a:ln w="12700">
            <a:solidFill>
              <a:srgbClr val="0B8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0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88A8"/>
                </a:solidFill>
              </a:rPr>
              <a:t>Relax-Git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201400" y="3200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7386"/>
                </a:solidFill>
              </a:rPr>
              <a:t>12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" y="6583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88A8"/>
                </a:solidFill>
              </a:rPr>
              <a:t>11 / 管理端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89611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033"/>
                </a:solidFill>
              </a:rPr>
              <a:t>运营控制台：答辩演示的系统观察面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85216" y="1389888"/>
            <a:ext cx="7461504" cy="4581144"/>
          </a:xfrm>
          <a:prstGeom prst="roundRect">
            <a:avLst>
              <a:gd name="adj" fmla="val 2395"/>
            </a:avLst>
          </a:prstGeom>
          <a:solidFill>
            <a:srgbClr val="FFFFFF"/>
          </a:solidFill>
          <a:ln w="10160">
            <a:solidFill>
              <a:srgbClr val="E4EBF3"/>
            </a:solidFill>
            <a:prstDash val="solid"/>
          </a:ln>
          <a:effectLst>
            <a:outerShdw sx="100000" sy="100000" kx="0" ky="0" algn="bl" rotWithShape="0" blurRad="12700" dist="50800" dir="2700000">
              <a:srgbClr val="A9B6C6">
                <a:alpha val="16000"/>
              </a:srgbClr>
            </a:outerShdw>
          </a:effectLst>
        </p:spPr>
      </p:sp>
      <p:pic>
        <p:nvPicPr>
          <p:cNvPr id="9" name="Image 0" descr="/Users/fpsmeimei/Projects/relax-git/outputs/ppt-work/assets/12_admin_console_i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041795"/>
            <a:ext cx="7315200" cy="327733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22208" y="1755648"/>
            <a:ext cx="2606040" cy="35204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E4EBF3"/>
            </a:solidFill>
            <a:prstDash val="solid"/>
          </a:ln>
          <a:effectLst>
            <a:outerShdw sx="100000" sy="100000" kx="0" ky="0" algn="bl" rotWithShape="0" blurRad="12700" dist="50800" dir="2700000">
              <a:srgbClr val="A9B6C6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778240" y="203911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88A8"/>
                </a:solidFill>
              </a:rPr>
              <a:t>控制台内容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778240" y="254203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62033"/>
                </a:solidFill>
              </a:rPr>
              <a:t>•  用户、仓库、评论、快照统计</a:t>
            </a:r>
            <a:endParaRPr lang="en-US" sz="920" dirty="0"/>
          </a:p>
        </p:txBody>
      </p:sp>
      <p:sp>
        <p:nvSpPr>
          <p:cNvPr id="13" name="Text 10"/>
          <p:cNvSpPr/>
          <p:nvPr/>
        </p:nvSpPr>
        <p:spPr>
          <a:xfrm>
            <a:off x="8778240" y="2935224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62033"/>
                </a:solidFill>
              </a:rPr>
              <a:t>•  最近仓库与最近评论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8778240" y="3328416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62033"/>
                </a:solidFill>
              </a:rPr>
              <a:t>•  API / Worker / DB / Redis 状态</a:t>
            </a:r>
            <a:endParaRPr lang="en-US" sz="920" dirty="0"/>
          </a:p>
        </p:txBody>
      </p:sp>
      <p:sp>
        <p:nvSpPr>
          <p:cNvPr id="15" name="Text 12"/>
          <p:cNvSpPr/>
          <p:nvPr/>
        </p:nvSpPr>
        <p:spPr>
          <a:xfrm>
            <a:off x="8778240" y="372160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62033"/>
                </a:solidFill>
              </a:rPr>
              <a:t>•  仅管理员可见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8890">
            <a:solidFill>
              <a:srgbClr val="E4EBF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6583680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793A3"/>
                </a:solidFill>
              </a:rPr>
              <a:t>论文对应：5.6 运营控制台</a:t>
            </a:r>
            <a:endParaRPr lang="en-US" sz="6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B88A8"/>
          </a:solidFill>
          <a:ln w="12700">
            <a:solidFill>
              <a:srgbClr val="0B8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20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88A8"/>
                </a:solidFill>
              </a:rPr>
              <a:t>Relax-Git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201400" y="3200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7386"/>
                </a:solidFill>
              </a:rPr>
              <a:t>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" y="6583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88A8"/>
                </a:solidFill>
              </a:rPr>
              <a:t>12 / 总结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89611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033"/>
                </a:solidFill>
              </a:rPr>
              <a:t>测试结论与答辩演示路径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04672" y="1600200"/>
            <a:ext cx="1056132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0160">
            <a:solidFill>
              <a:srgbClr val="E4EBF3"/>
            </a:solidFill>
            <a:prstDash val="solid"/>
          </a:ln>
          <a:effectLst>
            <a:outerShdw sx="100000" sy="100000" kx="0" ky="0" algn="bl" rotWithShape="0" blurRad="12700" dist="50800" dir="2700000">
              <a:srgbClr val="A9B6C6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43000" y="1984248"/>
            <a:ext cx="201168" cy="201168"/>
          </a:xfrm>
          <a:prstGeom prst="ellipse">
            <a:avLst/>
          </a:prstGeom>
          <a:solidFill>
            <a:srgbClr val="12815B"/>
          </a:solidFill>
          <a:ln w="12700">
            <a:solidFill>
              <a:srgbClr val="1281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5004" y="1988820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490472" y="196596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033"/>
                </a:solidFill>
              </a:rPr>
              <a:t>仓库导入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624328" y="1975104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57386"/>
                </a:solidFill>
              </a:rPr>
              <a:t>Git URL、分支读取、快照任务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6217920" y="1984248"/>
            <a:ext cx="201168" cy="201168"/>
          </a:xfrm>
          <a:prstGeom prst="ellipse">
            <a:avLst/>
          </a:prstGeom>
          <a:solidFill>
            <a:srgbClr val="12815B"/>
          </a:solidFill>
          <a:ln w="12700">
            <a:solidFill>
              <a:srgbClr val="1281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49924" y="1988820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565392" y="196596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033"/>
                </a:solidFill>
              </a:rPr>
              <a:t>社区发现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699248" y="1975104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57386"/>
                </a:solidFill>
              </a:rPr>
              <a:t>公开仓库与内部仓库展示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1143000" y="2852928"/>
            <a:ext cx="201168" cy="201168"/>
          </a:xfrm>
          <a:prstGeom prst="ellipse">
            <a:avLst/>
          </a:prstGeom>
          <a:solidFill>
            <a:srgbClr val="12815B"/>
          </a:solidFill>
          <a:ln w="12700">
            <a:solidFill>
              <a:srgbClr val="1281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5004" y="2857500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490472" y="283464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033"/>
                </a:solidFill>
              </a:rPr>
              <a:t>权限边界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624328" y="2843784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57386"/>
                </a:solidFill>
              </a:rPr>
              <a:t>fpsmeimei / 001 / 002 三视角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6217920" y="2852928"/>
            <a:ext cx="201168" cy="201168"/>
          </a:xfrm>
          <a:prstGeom prst="ellipse">
            <a:avLst/>
          </a:prstGeom>
          <a:solidFill>
            <a:srgbClr val="12815B"/>
          </a:solidFill>
          <a:ln w="12700">
            <a:solidFill>
              <a:srgbClr val="1281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49924" y="2857500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565392" y="283464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033"/>
                </a:solidFill>
              </a:rPr>
              <a:t>代码浏览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699248" y="2843784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57386"/>
                </a:solidFill>
              </a:rPr>
              <a:t>文件树、README、行号和评论入口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1143000" y="3721608"/>
            <a:ext cx="201168" cy="201168"/>
          </a:xfrm>
          <a:prstGeom prst="ellipse">
            <a:avLst/>
          </a:prstGeom>
          <a:solidFill>
            <a:srgbClr val="12815B"/>
          </a:solidFill>
          <a:ln w="12700">
            <a:solidFill>
              <a:srgbClr val="1281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75004" y="3726180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490472" y="370332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033"/>
                </a:solidFill>
              </a:rPr>
              <a:t>互动闭环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624328" y="3712464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57386"/>
                </a:solidFill>
              </a:rPr>
              <a:t>评论、通知、好友、私信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6217920" y="3721608"/>
            <a:ext cx="201168" cy="201168"/>
          </a:xfrm>
          <a:prstGeom prst="ellipse">
            <a:avLst/>
          </a:prstGeom>
          <a:solidFill>
            <a:srgbClr val="12815B"/>
          </a:solidFill>
          <a:ln w="12700">
            <a:solidFill>
              <a:srgbClr val="1281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49924" y="3726180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565392" y="370332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033"/>
                </a:solidFill>
              </a:rPr>
              <a:t>管理观察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699248" y="3712464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57386"/>
                </a:solidFill>
              </a:rPr>
              <a:t>控制台统计与服务状态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960120" y="56509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88A8"/>
                </a:solidFill>
              </a:rPr>
              <a:t>最终呈现：一个以代码仓库为核心，具备内容管理、代码浏览、社区互动、关系消息、AI 辅助和管理观察能力的本地可运行系统。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8890">
            <a:solidFill>
              <a:srgbClr val="E4EBF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583680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793A3"/>
                </a:solidFill>
              </a:rPr>
              <a:t>论文对应：第6章 系统测试、第7章 总结与展望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智能2201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Relax-Git 基于 Web 的线上代码仓库智能社交平台</dc:title>
  <dc:subject>Relax-Git 毕业设计答辩</dc:subject>
  <dc:creator>石政飏</dc:creator>
  <cp:lastModifiedBy>石政飏</cp:lastModifiedBy>
  <cp:revision>1</cp:revision>
  <dcterms:created xsi:type="dcterms:W3CDTF">2026-06-05T21:35:06Z</dcterms:created>
  <dcterms:modified xsi:type="dcterms:W3CDTF">2026-06-05T21:35:06Z</dcterms:modified>
</cp:coreProperties>
</file>